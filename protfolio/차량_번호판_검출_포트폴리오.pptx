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6" y="19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051560"/>
            <a:ext cx="68580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8263A"/>
                </a:solidFill>
                <a:latin typeface="Malgun Gothic"/>
              </a:defRPr>
            </a:pPr>
            <a:r>
              <a:t>OpenCV 기반 차량 번호판 검출</a:t>
            </a:r>
          </a:p>
          <a:p>
            <a:pPr>
              <a:spcBef>
                <a:spcPts val="800"/>
              </a:spcBef>
              <a:defRPr sz="1800">
                <a:solidFill>
                  <a:srgbClr val="697684"/>
                </a:solidFill>
                <a:latin typeface="Malgun Gothic"/>
              </a:defRPr>
            </a:pPr>
            <a:r>
              <a:t>YOLO 기반 번호판 영역 검출 · 영상 전처리 · GUI 연동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788920"/>
            <a:ext cx="3383280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46304" rIns="164592" bIns="109728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8263A"/>
                </a:solidFill>
                <a:latin typeface="Malgun Gothic"/>
              </a:defRPr>
            </a:pPr>
            <a:r>
              <a:t>ROLE</a:t>
            </a:r>
          </a:p>
          <a:p>
            <a:pPr>
              <a:spcAft>
                <a:spcPts val="400"/>
              </a:spcAft>
              <a:defRPr sz="1500">
                <a:solidFill>
                  <a:srgbClr val="232A32"/>
                </a:solidFill>
                <a:latin typeface="Malgun Gothic"/>
              </a:defRPr>
            </a:pPr>
            <a:r>
              <a:t>팀장</a:t>
            </a:r>
          </a:p>
          <a:p>
            <a:pPr>
              <a:spcAft>
                <a:spcPts val="400"/>
              </a:spcAft>
              <a:defRPr sz="1500">
                <a:solidFill>
                  <a:srgbClr val="232A32"/>
                </a:solidFill>
                <a:latin typeface="Malgun Gothic"/>
              </a:defRPr>
            </a:pPr>
            <a:r>
              <a:t>영상 전처리 · GUI 연동 · 통합 테스트 · 일정 관리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788920"/>
            <a:ext cx="73152" cy="1234440"/>
          </a:xfrm>
          <a:prstGeom prst="rect">
            <a:avLst/>
          </a:prstGeom>
          <a:solidFill>
            <a:srgbClr val="2A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43400" y="2788920"/>
            <a:ext cx="3383280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46304" rIns="164592" bIns="109728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8263A"/>
                </a:solidFill>
                <a:latin typeface="Malgun Gothic"/>
              </a:defRPr>
            </a:pPr>
            <a:r>
              <a:t>TEAM</a:t>
            </a:r>
          </a:p>
          <a:p>
            <a:pPr>
              <a:spcAft>
                <a:spcPts val="400"/>
              </a:spcAft>
              <a:defRPr sz="1500">
                <a:solidFill>
                  <a:srgbClr val="232A32"/>
                </a:solidFill>
                <a:latin typeface="Malgun Gothic"/>
              </a:defRPr>
            </a:pPr>
            <a:r>
              <a:t>5명 / Python · C++ · OpenCV · YOLO · PyQt</a:t>
            </a:r>
          </a:p>
        </p:txBody>
      </p:sp>
      <p:sp>
        <p:nvSpPr>
          <p:cNvPr id="6" name="Rectangle 5"/>
          <p:cNvSpPr/>
          <p:nvPr/>
        </p:nvSpPr>
        <p:spPr>
          <a:xfrm>
            <a:off x="4343400" y="2788920"/>
            <a:ext cx="73152" cy="1234440"/>
          </a:xfrm>
          <a:prstGeom prst="rect">
            <a:avLst/>
          </a:prstGeom>
          <a:solidFill>
            <a:srgbClr val="317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955279" y="2788920"/>
            <a:ext cx="3383280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46304" rIns="164592" bIns="109728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8263A"/>
                </a:solidFill>
                <a:latin typeface="Malgun Gothic"/>
              </a:defRPr>
            </a:pPr>
            <a:r>
              <a:t>FOCUS</a:t>
            </a:r>
          </a:p>
          <a:p>
            <a:pPr>
              <a:spcAft>
                <a:spcPts val="400"/>
              </a:spcAft>
              <a:defRPr sz="1500">
                <a:solidFill>
                  <a:srgbClr val="232A32"/>
                </a:solidFill>
                <a:latin typeface="Malgun Gothic"/>
              </a:defRPr>
            </a:pPr>
            <a:r>
              <a:t>독립 테스트셋 구축</a:t>
            </a:r>
          </a:p>
          <a:p>
            <a:pPr>
              <a:spcAft>
                <a:spcPts val="400"/>
              </a:spcAft>
              <a:defRPr sz="1500">
                <a:solidFill>
                  <a:srgbClr val="232A32"/>
                </a:solidFill>
                <a:latin typeface="Malgun Gothic"/>
              </a:defRPr>
            </a:pPr>
            <a:r>
              <a:t>모델 재검증 · 오류 분석</a:t>
            </a:r>
          </a:p>
        </p:txBody>
      </p:sp>
      <p:sp>
        <p:nvSpPr>
          <p:cNvPr id="8" name="Rectangle 7"/>
          <p:cNvSpPr/>
          <p:nvPr/>
        </p:nvSpPr>
        <p:spPr>
          <a:xfrm>
            <a:off x="7955279" y="2788920"/>
            <a:ext cx="73152" cy="1234440"/>
          </a:xfrm>
          <a:prstGeom prst="rect">
            <a:avLst/>
          </a:prstGeom>
          <a:solidFill>
            <a:srgbClr val="18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4709160"/>
            <a:ext cx="10607040" cy="914400"/>
          </a:xfrm>
          <a:prstGeom prst="roundRect">
            <a:avLst/>
          </a:prstGeom>
          <a:solidFill>
            <a:srgbClr val="18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FFFFFF"/>
                </a:solidFill>
                <a:latin typeface="Malgun Gothic"/>
              </a:defRPr>
            </a:pPr>
            <a:r>
              <a:t>검출 결과를 구현하는 데서 끝나지 않고, 독립 데이터로 모델 성능을 재검증하고 오류 원인을 분석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D7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881360" y="651052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684"/>
                </a:solidFill>
                <a:latin typeface="Malgun Gothic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63A"/>
                </a:solidFill>
                <a:latin typeface="Malgun Gothic"/>
              </a:defRPr>
            </a:pPr>
            <a:r>
              <a:t>01. 시스템 구성 및 나의 역할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97684"/>
                </a:solidFill>
                <a:latin typeface="Malgun Gothic"/>
              </a:defRPr>
            </a:pPr>
            <a:r>
              <a:t>차량 영상 입력부터 번호판 검출 결과 출력까지의 흐름을 구현·통합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1783080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8263A"/>
                </a:solidFill>
                <a:latin typeface="Malgun Gothic"/>
              </a:defRPr>
            </a:pPr>
            <a:r>
              <a:t>차량 영상</a:t>
            </a:r>
          </a:p>
          <a:p>
            <a:pPr algn="ctr">
              <a:defRPr sz="1200">
                <a:solidFill>
                  <a:srgbClr val="697684"/>
                </a:solidFill>
                <a:latin typeface="Malgun Gothic"/>
              </a:defRPr>
            </a:pPr>
            <a:r>
              <a:t>OpenCV 입력</a:t>
            </a:r>
          </a:p>
        </p:txBody>
      </p:sp>
      <p:sp>
        <p:nvSpPr>
          <p:cNvPr id="5" name="Chevron 4"/>
          <p:cNvSpPr/>
          <p:nvPr/>
        </p:nvSpPr>
        <p:spPr>
          <a:xfrm>
            <a:off x="2450591" y="1965960"/>
            <a:ext cx="320040" cy="502920"/>
          </a:xfrm>
          <a:prstGeom prst="chevron">
            <a:avLst/>
          </a:prstGeom>
          <a:solidFill>
            <a:srgbClr val="2A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852928" y="1600200"/>
            <a:ext cx="1783080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8263A"/>
                </a:solidFill>
                <a:latin typeface="Malgun Gothic"/>
              </a:defRPr>
            </a:pPr>
            <a:r>
              <a:t>전처리</a:t>
            </a:r>
          </a:p>
          <a:p>
            <a:pPr algn="ctr">
              <a:defRPr sz="1200">
                <a:solidFill>
                  <a:srgbClr val="697684"/>
                </a:solidFill>
                <a:latin typeface="Malgun Gothic"/>
              </a:defRPr>
            </a:pPr>
            <a:r>
              <a:t>GrayScale</a:t>
            </a:r>
            <a:br/>
            <a:r>
              <a:t>Blur · Edge</a:t>
            </a:r>
          </a:p>
        </p:txBody>
      </p:sp>
      <p:sp>
        <p:nvSpPr>
          <p:cNvPr id="7" name="Chevron 6"/>
          <p:cNvSpPr/>
          <p:nvPr/>
        </p:nvSpPr>
        <p:spPr>
          <a:xfrm>
            <a:off x="4663440" y="1965960"/>
            <a:ext cx="320040" cy="502920"/>
          </a:xfrm>
          <a:prstGeom prst="chevron">
            <a:avLst/>
          </a:prstGeom>
          <a:solidFill>
            <a:srgbClr val="2A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65776" y="1600200"/>
            <a:ext cx="1783080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8263A"/>
                </a:solidFill>
                <a:latin typeface="Malgun Gothic"/>
              </a:defRPr>
            </a:pPr>
            <a:r>
              <a:t>YOLO26n</a:t>
            </a:r>
          </a:p>
          <a:p>
            <a:pPr algn="ctr">
              <a:defRPr sz="1200">
                <a:solidFill>
                  <a:srgbClr val="697684"/>
                </a:solidFill>
                <a:latin typeface="Malgun Gothic"/>
              </a:defRPr>
            </a:pPr>
            <a:r>
              <a:t>license_plate</a:t>
            </a:r>
            <a:br/>
            <a:r>
              <a:t>영역 검출</a:t>
            </a:r>
          </a:p>
        </p:txBody>
      </p:sp>
      <p:sp>
        <p:nvSpPr>
          <p:cNvPr id="9" name="Chevron 8"/>
          <p:cNvSpPr/>
          <p:nvPr/>
        </p:nvSpPr>
        <p:spPr>
          <a:xfrm>
            <a:off x="6876288" y="1965960"/>
            <a:ext cx="320040" cy="502920"/>
          </a:xfrm>
          <a:prstGeom prst="chevron">
            <a:avLst/>
          </a:prstGeom>
          <a:solidFill>
            <a:srgbClr val="2A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278624" y="1600200"/>
            <a:ext cx="1783080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8263A"/>
                </a:solidFill>
                <a:latin typeface="Malgun Gothic"/>
              </a:defRPr>
            </a:pPr>
            <a:r>
              <a:t>Crop / OCR</a:t>
            </a:r>
          </a:p>
          <a:p>
            <a:pPr algn="ctr">
              <a:defRPr sz="1200">
                <a:solidFill>
                  <a:srgbClr val="697684"/>
                </a:solidFill>
                <a:latin typeface="Malgun Gothic"/>
              </a:defRPr>
            </a:pPr>
            <a:r>
              <a:t>번호판 영역</a:t>
            </a:r>
            <a:br/>
            <a:r>
              <a:t>후속 처리</a:t>
            </a:r>
          </a:p>
        </p:txBody>
      </p:sp>
      <p:sp>
        <p:nvSpPr>
          <p:cNvPr id="11" name="Chevron 10"/>
          <p:cNvSpPr/>
          <p:nvPr/>
        </p:nvSpPr>
        <p:spPr>
          <a:xfrm>
            <a:off x="9089136" y="1965960"/>
            <a:ext cx="320040" cy="502920"/>
          </a:xfrm>
          <a:prstGeom prst="chevron">
            <a:avLst/>
          </a:prstGeom>
          <a:solidFill>
            <a:srgbClr val="2A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491472" y="1600200"/>
            <a:ext cx="1783080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8263A"/>
                </a:solidFill>
                <a:latin typeface="Malgun Gothic"/>
              </a:defRPr>
            </a:pPr>
            <a:r>
              <a:t>PyQt GUI</a:t>
            </a:r>
          </a:p>
          <a:p>
            <a:pPr algn="ctr">
              <a:defRPr sz="1200">
                <a:solidFill>
                  <a:srgbClr val="697684"/>
                </a:solidFill>
                <a:latin typeface="Malgun Gothic"/>
              </a:defRPr>
            </a:pPr>
            <a:r>
              <a:t>결과 출력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246120"/>
            <a:ext cx="5257800" cy="2148840"/>
          </a:xfrm>
          <a:prstGeom prst="roundRect">
            <a:avLst/>
          </a:prstGeom>
          <a:solidFill>
            <a:srgbClr val="F4F7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46304" rIns="164592" bIns="109728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8263A"/>
                </a:solidFill>
                <a:latin typeface="Malgun Gothic"/>
              </a:defRPr>
            </a:pPr>
            <a:r>
              <a:t>영상 처리 / GUI</a:t>
            </a:r>
          </a:p>
          <a:p>
            <a:pPr>
              <a:spcAft>
                <a:spcPts val="400"/>
              </a:spcAft>
              <a:defRPr sz="1500">
                <a:solidFill>
                  <a:srgbClr val="232A32"/>
                </a:solidFill>
                <a:latin typeface="Malgun Gothic"/>
              </a:defRPr>
            </a:pPr>
            <a:r>
              <a:t>• Grayscale, Gaussian Blur, Edge Detection 전처리</a:t>
            </a:r>
          </a:p>
          <a:p>
            <a:pPr>
              <a:spcAft>
                <a:spcPts val="400"/>
              </a:spcAft>
              <a:defRPr sz="1500">
                <a:solidFill>
                  <a:srgbClr val="232A32"/>
                </a:solidFill>
                <a:latin typeface="Malgun Gothic"/>
              </a:defRPr>
            </a:pPr>
            <a:r>
              <a:t>• OpenCV 처리 결과를 PyQt GUI와 연결</a:t>
            </a:r>
          </a:p>
          <a:p>
            <a:pPr>
              <a:spcAft>
                <a:spcPts val="400"/>
              </a:spcAft>
              <a:defRPr sz="1500">
                <a:solidFill>
                  <a:srgbClr val="232A32"/>
                </a:solidFill>
                <a:latin typeface="Malgun Gothic"/>
              </a:defRPr>
            </a:pPr>
            <a:r>
              <a:t>• 영상 입력 → 검출 결과 출력 통합 테스트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246120"/>
            <a:ext cx="73152" cy="2148840"/>
          </a:xfrm>
          <a:prstGeom prst="rect">
            <a:avLst/>
          </a:prstGeom>
          <a:solidFill>
            <a:srgbClr val="2A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080760" y="3246120"/>
            <a:ext cx="5257800" cy="2148840"/>
          </a:xfrm>
          <a:prstGeom prst="roundRect">
            <a:avLst/>
          </a:prstGeom>
          <a:solidFill>
            <a:srgbClr val="F4F7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46304" rIns="164592" bIns="109728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8263A"/>
                </a:solidFill>
                <a:latin typeface="Malgun Gothic"/>
              </a:defRPr>
            </a:pPr>
            <a:r>
              <a:t>팀 리딩 / 협업</a:t>
            </a:r>
          </a:p>
          <a:p>
            <a:pPr>
              <a:spcAft>
                <a:spcPts val="400"/>
              </a:spcAft>
              <a:defRPr sz="1500">
                <a:solidFill>
                  <a:srgbClr val="232A32"/>
                </a:solidFill>
                <a:latin typeface="Malgun Gothic"/>
              </a:defRPr>
            </a:pPr>
            <a:r>
              <a:t>• 작업 일정 관리 및 진행 상황 공유</a:t>
            </a:r>
          </a:p>
          <a:p>
            <a:pPr>
              <a:spcAft>
                <a:spcPts val="400"/>
              </a:spcAft>
              <a:defRPr sz="1500">
                <a:solidFill>
                  <a:srgbClr val="232A32"/>
                </a:solidFill>
                <a:latin typeface="Malgun Gothic"/>
              </a:defRPr>
            </a:pPr>
            <a:r>
              <a:t>• Git/GitHub 기반 코드 협업</a:t>
            </a:r>
          </a:p>
          <a:p>
            <a:pPr>
              <a:spcAft>
                <a:spcPts val="400"/>
              </a:spcAft>
              <a:defRPr sz="1500">
                <a:solidFill>
                  <a:srgbClr val="232A32"/>
                </a:solidFill>
                <a:latin typeface="Malgun Gothic"/>
              </a:defRPr>
            </a:pPr>
            <a:r>
              <a:t>• 팀원 기능을 연결하고 전체 흐름을 확인</a:t>
            </a:r>
          </a:p>
          <a:p>
            <a:pPr>
              <a:spcAft>
                <a:spcPts val="400"/>
              </a:spcAft>
              <a:defRPr sz="1500">
                <a:solidFill>
                  <a:srgbClr val="232A32"/>
                </a:solidFill>
                <a:latin typeface="Malgun Gothic"/>
              </a:defRPr>
            </a:pPr>
            <a:r>
              <a:t>• 최종 발표 및 결과 정리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0760" y="3246120"/>
            <a:ext cx="73152" cy="2148840"/>
          </a:xfrm>
          <a:prstGeom prst="rect">
            <a:avLst/>
          </a:prstGeom>
          <a:solidFill>
            <a:srgbClr val="317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D7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881360" y="651052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684"/>
                </a:solidFill>
                <a:latin typeface="Malgun Gothic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63A"/>
                </a:solidFill>
                <a:latin typeface="Malgun Gothic"/>
              </a:defRPr>
            </a:pPr>
            <a:r>
              <a:t>02. YOLO 모델 및 독립 테스트셋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97684"/>
                </a:solidFill>
                <a:latin typeface="Malgun Gothic"/>
              </a:defRPr>
            </a:pPr>
            <a:r>
              <a:t>기존 학습 모델을 별도 데이터로 재검증하여 일반화 성능을 확인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5212080" cy="1828800"/>
          </a:xfrm>
          <a:prstGeom prst="roundRect">
            <a:avLst/>
          </a:prstGeom>
          <a:solidFill>
            <a:srgbClr val="F4F7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46304" rIns="164592" bIns="109728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8263A"/>
                </a:solidFill>
                <a:latin typeface="Malgun Gothic"/>
              </a:defRPr>
            </a:pPr>
            <a:r>
              <a:t>YOLO26n</a:t>
            </a:r>
          </a:p>
          <a:p>
            <a:pPr>
              <a:spcAft>
                <a:spcPts val="400"/>
              </a:spcAft>
              <a:defRPr sz="1500">
                <a:solidFill>
                  <a:srgbClr val="232A32"/>
                </a:solidFill>
                <a:latin typeface="Malgun Gothic"/>
              </a:defRPr>
            </a:pPr>
            <a:r>
              <a:t>• 단일 클래스: license_plate</a:t>
            </a:r>
          </a:p>
          <a:p>
            <a:pPr>
              <a:spcAft>
                <a:spcPts val="400"/>
              </a:spcAft>
              <a:defRPr sz="1500">
                <a:solidFill>
                  <a:srgbClr val="232A32"/>
                </a:solidFill>
                <a:latin typeface="Malgun Gothic"/>
              </a:defRPr>
            </a:pPr>
            <a:r>
              <a:t>• Parameters: 2,375,031</a:t>
            </a:r>
          </a:p>
          <a:p>
            <a:pPr>
              <a:spcAft>
                <a:spcPts val="400"/>
              </a:spcAft>
              <a:defRPr sz="1500">
                <a:solidFill>
                  <a:srgbClr val="232A32"/>
                </a:solidFill>
                <a:latin typeface="Malgun Gothic"/>
              </a:defRPr>
            </a:pPr>
            <a:r>
              <a:t>• GFLOPs: 5.2</a:t>
            </a:r>
          </a:p>
          <a:p>
            <a:pPr>
              <a:spcAft>
                <a:spcPts val="400"/>
              </a:spcAft>
              <a:defRPr sz="1500">
                <a:solidFill>
                  <a:srgbClr val="232A32"/>
                </a:solidFill>
                <a:latin typeface="Malgun Gothic"/>
              </a:defRPr>
            </a:pPr>
            <a:r>
              <a:t>• 약 1,500장 기반 학습</a:t>
            </a:r>
          </a:p>
          <a:p>
            <a:pPr>
              <a:spcAft>
                <a:spcPts val="400"/>
              </a:spcAft>
              <a:defRPr sz="1500">
                <a:solidFill>
                  <a:srgbClr val="232A32"/>
                </a:solidFill>
                <a:latin typeface="Malgun Gothic"/>
              </a:defRPr>
            </a:pPr>
            <a:r>
              <a:t>• Google Colab GPU 학습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73152" cy="1828800"/>
          </a:xfrm>
          <a:prstGeom prst="rect">
            <a:avLst/>
          </a:prstGeom>
          <a:solidFill>
            <a:srgbClr val="2A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080760" y="1417320"/>
            <a:ext cx="5212080" cy="1828800"/>
          </a:xfrm>
          <a:prstGeom prst="roundRect">
            <a:avLst/>
          </a:prstGeom>
          <a:solidFill>
            <a:srgbClr val="F4F7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46304" rIns="164592" bIns="109728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8263A"/>
                </a:solidFill>
                <a:latin typeface="Malgun Gothic"/>
              </a:defRPr>
            </a:pPr>
            <a:r>
              <a:t>독립 테스트셋</a:t>
            </a:r>
          </a:p>
          <a:p>
            <a:pPr>
              <a:spcAft>
                <a:spcPts val="400"/>
              </a:spcAft>
              <a:defRPr sz="1500">
                <a:solidFill>
                  <a:srgbClr val="232A32"/>
                </a:solidFill>
                <a:latin typeface="Malgun Gothic"/>
              </a:defRPr>
            </a:pPr>
            <a:r>
              <a:t>• Images: 489장</a:t>
            </a:r>
          </a:p>
          <a:p>
            <a:pPr>
              <a:spcAft>
                <a:spcPts val="400"/>
              </a:spcAft>
              <a:defRPr sz="1500">
                <a:solidFill>
                  <a:srgbClr val="232A32"/>
                </a:solidFill>
                <a:latin typeface="Malgun Gothic"/>
              </a:defRPr>
            </a:pPr>
            <a:r>
              <a:t>• Labels: 489개</a:t>
            </a:r>
          </a:p>
          <a:p>
            <a:pPr>
              <a:spcAft>
                <a:spcPts val="400"/>
              </a:spcAft>
              <a:defRPr sz="1500">
                <a:solidFill>
                  <a:srgbClr val="232A32"/>
                </a:solidFill>
                <a:latin typeface="Malgun Gothic"/>
              </a:defRPr>
            </a:pPr>
            <a:r>
              <a:t>• Ground Truth Objects: 505개</a:t>
            </a:r>
          </a:p>
          <a:p>
            <a:pPr>
              <a:spcAft>
                <a:spcPts val="400"/>
              </a:spcAft>
              <a:defRPr sz="1500">
                <a:solidFill>
                  <a:srgbClr val="232A32"/>
                </a:solidFill>
                <a:latin typeface="Malgun Gothic"/>
              </a:defRPr>
            </a:pPr>
            <a:r>
              <a:t>• Corrupt: 0개</a:t>
            </a:r>
          </a:p>
          <a:p>
            <a:pPr>
              <a:spcAft>
                <a:spcPts val="400"/>
              </a:spcAft>
              <a:defRPr sz="1500">
                <a:solidFill>
                  <a:srgbClr val="232A32"/>
                </a:solidFill>
                <a:latin typeface="Malgun Gothic"/>
              </a:defRPr>
            </a:pPr>
            <a:r>
              <a:t>• 이미지-라벨 대응 확인 후 테스트 구성</a:t>
            </a:r>
          </a:p>
        </p:txBody>
      </p:sp>
      <p:sp>
        <p:nvSpPr>
          <p:cNvPr id="7" name="Rectangle 6"/>
          <p:cNvSpPr/>
          <p:nvPr/>
        </p:nvSpPr>
        <p:spPr>
          <a:xfrm>
            <a:off x="6080760" y="1417320"/>
            <a:ext cx="73152" cy="1828800"/>
          </a:xfrm>
          <a:prstGeom prst="rect">
            <a:avLst/>
          </a:prstGeom>
          <a:solidFill>
            <a:srgbClr val="317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80" y="3703320"/>
            <a:ext cx="2331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2A5B96"/>
                </a:solidFill>
                <a:latin typeface="Malgun Gothic"/>
              </a:defRPr>
            </a:pPr>
            <a:r>
              <a:t>489</a:t>
            </a:r>
          </a:p>
          <a:p>
            <a:pPr algn="ctr">
              <a:defRPr sz="1200">
                <a:solidFill>
                  <a:srgbClr val="697684"/>
                </a:solidFill>
                <a:latin typeface="Malgun Gothic"/>
              </a:defRPr>
            </a:pPr>
            <a:r>
              <a:t>Images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3703320"/>
            <a:ext cx="2331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2A5B96"/>
                </a:solidFill>
                <a:latin typeface="Malgun Gothic"/>
              </a:defRPr>
            </a:pPr>
            <a:r>
              <a:t>505</a:t>
            </a:r>
          </a:p>
          <a:p>
            <a:pPr algn="ctr">
              <a:defRPr sz="1200">
                <a:solidFill>
                  <a:srgbClr val="697684"/>
                </a:solidFill>
                <a:latin typeface="Malgun Gothic"/>
              </a:defRPr>
            </a:pPr>
            <a:r>
              <a:t>GT Objects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703320"/>
            <a:ext cx="2331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2A5B96"/>
                </a:solidFill>
                <a:latin typeface="Malgun Gothic"/>
              </a:defRPr>
            </a:pPr>
            <a:r>
              <a:t>484</a:t>
            </a:r>
          </a:p>
          <a:p>
            <a:pPr algn="ctr">
              <a:defRPr sz="1200">
                <a:solidFill>
                  <a:srgbClr val="697684"/>
                </a:solidFill>
                <a:latin typeface="Malgun Gothic"/>
              </a:defRPr>
            </a:pPr>
            <a:r>
              <a:t>Matched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69680" y="3703320"/>
            <a:ext cx="2331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2A5B96"/>
                </a:solidFill>
                <a:latin typeface="Malgun Gothic"/>
              </a:defRPr>
            </a:pPr>
            <a:r>
              <a:t>0</a:t>
            </a:r>
          </a:p>
          <a:p>
            <a:pPr algn="ctr">
              <a:defRPr sz="1200">
                <a:solidFill>
                  <a:srgbClr val="697684"/>
                </a:solidFill>
                <a:latin typeface="Malgun Gothic"/>
              </a:defRPr>
            </a:pPr>
            <a:r>
              <a:t>Corrupt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257800"/>
            <a:ext cx="10424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63A"/>
                </a:solidFill>
                <a:latin typeface="Malgun Gothic"/>
              </a:defRPr>
            </a:pPr>
            <a:r>
              <a:t>목적  ·  학습에 사용되지 않은 별도 이미지에서 best.pt의 검출 성능을 재검증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D7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881360" y="651052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684"/>
                </a:solidFill>
                <a:latin typeface="Malgun Gothic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63A"/>
                </a:solidFill>
                <a:latin typeface="Malgun Gothic"/>
              </a:defRPr>
            </a:pPr>
            <a:r>
              <a:t>03. 모델 성능 검증 및 오류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97684"/>
                </a:solidFill>
                <a:latin typeface="Malgun Gothic"/>
              </a:defRPr>
            </a:pPr>
            <a:r>
              <a:t>489장의 독립 테스트셋에서 정량 평가 후 이미지 단위 오류를 추가 분석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2331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2A5B96"/>
                </a:solidFill>
                <a:latin typeface="Malgun Gothic"/>
              </a:defRPr>
            </a:pPr>
            <a:r>
              <a:t>98.8%</a:t>
            </a:r>
          </a:p>
          <a:p>
            <a:pPr algn="ctr">
              <a:defRPr sz="1200">
                <a:solidFill>
                  <a:srgbClr val="697684"/>
                </a:solidFill>
                <a:latin typeface="Malgun Gothic"/>
              </a:defRPr>
            </a:pPr>
            <a:r>
              <a:t>Precision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1417320"/>
            <a:ext cx="2331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2A5B96"/>
                </a:solidFill>
                <a:latin typeface="Malgun Gothic"/>
              </a:defRPr>
            </a:pPr>
            <a:r>
              <a:t>96.2%</a:t>
            </a:r>
          </a:p>
          <a:p>
            <a:pPr algn="ctr">
              <a:defRPr sz="1200">
                <a:solidFill>
                  <a:srgbClr val="697684"/>
                </a:solidFill>
                <a:latin typeface="Malgun Gothic"/>
              </a:defRPr>
            </a:pPr>
            <a:r>
              <a:t>Recall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417320"/>
            <a:ext cx="2331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2A5B96"/>
                </a:solidFill>
                <a:latin typeface="Malgun Gothic"/>
              </a:defRPr>
            </a:pPr>
            <a:r>
              <a:t>99.0%</a:t>
            </a:r>
          </a:p>
          <a:p>
            <a:pPr algn="ctr">
              <a:defRPr sz="1200">
                <a:solidFill>
                  <a:srgbClr val="697684"/>
                </a:solidFill>
                <a:latin typeface="Malgun Gothic"/>
              </a:defRPr>
            </a:pPr>
            <a:r>
              <a:t>mAP@50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69680" y="1417320"/>
            <a:ext cx="2331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2A5B96"/>
                </a:solidFill>
                <a:latin typeface="Malgun Gothic"/>
              </a:defRPr>
            </a:pPr>
            <a:r>
              <a:t>64.0%</a:t>
            </a:r>
          </a:p>
          <a:p>
            <a:pPr algn="ctr">
              <a:defRPr sz="1200">
                <a:solidFill>
                  <a:srgbClr val="697684"/>
                </a:solidFill>
                <a:latin typeface="Malgun Gothic"/>
              </a:defRPr>
            </a:pPr>
            <a:r>
              <a:t>mAP@50-95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154680"/>
            <a:ext cx="5212080" cy="2148840"/>
          </a:xfrm>
          <a:prstGeom prst="roundRect">
            <a:avLst/>
          </a:prstGeom>
          <a:solidFill>
            <a:srgbClr val="F4F7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46304" rIns="164592" bIns="109728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8263A"/>
                </a:solidFill>
                <a:latin typeface="Malgun Gothic"/>
              </a:defRPr>
            </a:pPr>
            <a:r>
              <a:t>정량 결과 해석</a:t>
            </a:r>
          </a:p>
          <a:p>
            <a:pPr>
              <a:spcAft>
                <a:spcPts val="400"/>
              </a:spcAft>
              <a:defRPr sz="1500">
                <a:solidFill>
                  <a:srgbClr val="232A32"/>
                </a:solidFill>
                <a:latin typeface="Malgun Gothic"/>
              </a:defRPr>
            </a:pPr>
            <a:r>
              <a:t>• mAP@50 99.0%: IoU 0.5 기준 높은 검출 성능</a:t>
            </a:r>
          </a:p>
          <a:p>
            <a:pPr>
              <a:spcAft>
                <a:spcPts val="400"/>
              </a:spcAft>
              <a:defRPr sz="1500">
                <a:solidFill>
                  <a:srgbClr val="232A32"/>
                </a:solidFill>
                <a:latin typeface="Malgun Gothic"/>
              </a:defRPr>
            </a:pPr>
            <a:r>
              <a:t>• Recall 96.2%: 일부 번호판 미검출 존재</a:t>
            </a:r>
          </a:p>
          <a:p>
            <a:pPr>
              <a:spcAft>
                <a:spcPts val="400"/>
              </a:spcAft>
              <a:defRPr sz="1500">
                <a:solidFill>
                  <a:srgbClr val="232A32"/>
                </a:solidFill>
                <a:latin typeface="Malgun Gothic"/>
              </a:defRPr>
            </a:pPr>
            <a:r>
              <a:t>• mAP@50-95 64.0%: 엄격한 IoU 기준에서 위치·크기 정밀도 개선 여지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154680"/>
            <a:ext cx="73152" cy="2148840"/>
          </a:xfrm>
          <a:prstGeom prst="rect">
            <a:avLst/>
          </a:prstGeom>
          <a:solidFill>
            <a:srgbClr val="2A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080760" y="3154680"/>
            <a:ext cx="5212080" cy="2148840"/>
          </a:xfrm>
          <a:prstGeom prst="roundRect">
            <a:avLst/>
          </a:prstGeom>
          <a:solidFill>
            <a:srgbClr val="F4F7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46304" rIns="164592" bIns="109728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8263A"/>
                </a:solidFill>
                <a:latin typeface="Malgun Gothic"/>
              </a:defRPr>
            </a:pPr>
            <a:r>
              <a:t>오류 분석</a:t>
            </a:r>
          </a:p>
          <a:p>
            <a:pPr>
              <a:spcAft>
                <a:spcPts val="400"/>
              </a:spcAft>
              <a:defRPr sz="1400">
                <a:solidFill>
                  <a:srgbClr val="232A32"/>
                </a:solidFill>
                <a:latin typeface="Malgun Gothic"/>
              </a:defRPr>
            </a:pPr>
            <a:r>
              <a:t>• GT 505 / Prediction 488 / Matching 484</a:t>
            </a:r>
          </a:p>
          <a:p>
            <a:pPr>
              <a:spcAft>
                <a:spcPts val="400"/>
              </a:spcAft>
              <a:defRPr sz="1400">
                <a:solidFill>
                  <a:srgbClr val="232A32"/>
                </a:solidFill>
                <a:latin typeface="Malgun Gothic"/>
              </a:defRPr>
            </a:pPr>
            <a:r>
              <a:t>• FN 후보 21, FP 후보 4</a:t>
            </a:r>
          </a:p>
          <a:p>
            <a:pPr>
              <a:spcAft>
                <a:spcPts val="400"/>
              </a:spcAft>
              <a:defRPr sz="1400">
                <a:solidFill>
                  <a:srgbClr val="232A32"/>
                </a:solidFill>
                <a:latin typeface="Malgun Gothic"/>
              </a:defRPr>
            </a:pPr>
            <a:r>
              <a:t>• FN 후보 중 12개 이미지는 전체 미검출, 9개는 일부 객체 미검출</a:t>
            </a:r>
          </a:p>
          <a:p>
            <a:pPr>
              <a:spcAft>
                <a:spcPts val="400"/>
              </a:spcAft>
              <a:defRPr sz="1400">
                <a:solidFill>
                  <a:srgbClr val="232A32"/>
                </a:solidFill>
                <a:latin typeface="Malgun Gothic"/>
              </a:defRPr>
            </a:pPr>
            <a:r>
              <a:t>• 실제 이미지 검토로 자동 분류 결과를 재확인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3154680"/>
            <a:ext cx="73152" cy="2148840"/>
          </a:xfrm>
          <a:prstGeom prst="rect">
            <a:avLst/>
          </a:prstGeom>
          <a:solidFill>
            <a:srgbClr val="18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D7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881360" y="651052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684"/>
                </a:solidFill>
                <a:latin typeface="Malgun Gothic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63A"/>
                </a:solidFill>
                <a:latin typeface="Malgun Gothic"/>
              </a:defRPr>
            </a:pPr>
            <a:r>
              <a:t>04. 핵심 인사이트 및 프로젝트 성과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97684"/>
                </a:solidFill>
                <a:latin typeface="Malgun Gothic"/>
              </a:defRPr>
            </a:pPr>
            <a:r>
              <a:t>검출 성능 자체보다 '어디에서 오차가 생기는가'까지 검증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10214"/>
            <a:ext cx="5212080" cy="2812530"/>
          </a:xfrm>
          <a:prstGeom prst="roundRect">
            <a:avLst/>
          </a:prstGeom>
          <a:solidFill>
            <a:srgbClr val="F4F7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46304" rIns="164592" bIns="109728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8263A"/>
                </a:solidFill>
                <a:latin typeface="Malgun Gothic"/>
              </a:defRPr>
            </a:pPr>
            <a:r>
              <a:rPr dirty="0" err="1"/>
              <a:t>핵심</a:t>
            </a:r>
            <a:r>
              <a:rPr dirty="0"/>
              <a:t> </a:t>
            </a:r>
            <a:r>
              <a:rPr dirty="0" err="1"/>
              <a:t>발견</a:t>
            </a:r>
            <a:endParaRPr dirty="0"/>
          </a:p>
          <a:p>
            <a:pPr>
              <a:spcAft>
                <a:spcPts val="400"/>
              </a:spcAft>
              <a:defRPr sz="1500">
                <a:solidFill>
                  <a:srgbClr val="232A32"/>
                </a:solidFill>
                <a:latin typeface="Malgun Gothic"/>
              </a:defRPr>
            </a:pPr>
            <a:r>
              <a:rPr dirty="0" err="1"/>
              <a:t>번호판의</a:t>
            </a:r>
            <a:r>
              <a:rPr dirty="0"/>
              <a:t> </a:t>
            </a:r>
            <a:r>
              <a:rPr dirty="0" err="1"/>
              <a:t>존재</a:t>
            </a:r>
            <a:r>
              <a:rPr dirty="0"/>
              <a:t> </a:t>
            </a:r>
            <a:r>
              <a:rPr dirty="0" err="1"/>
              <a:t>여부를</a:t>
            </a:r>
            <a:r>
              <a:rPr dirty="0"/>
              <a:t> </a:t>
            </a:r>
            <a:r>
              <a:rPr dirty="0" err="1"/>
              <a:t>검출하는</a:t>
            </a:r>
            <a:r>
              <a:rPr dirty="0"/>
              <a:t> </a:t>
            </a:r>
            <a:r>
              <a:rPr dirty="0" err="1"/>
              <a:t>성능은</a:t>
            </a:r>
            <a:r>
              <a:rPr dirty="0"/>
              <a:t> </a:t>
            </a:r>
            <a:r>
              <a:rPr dirty="0" err="1"/>
              <a:t>높게</a:t>
            </a:r>
            <a:r>
              <a:rPr dirty="0"/>
              <a:t> </a:t>
            </a:r>
            <a:r>
              <a:rPr dirty="0" err="1"/>
              <a:t>나타났지만</a:t>
            </a:r>
            <a:r>
              <a:rPr dirty="0"/>
              <a:t>,</a:t>
            </a:r>
          </a:p>
          <a:p>
            <a:pPr>
              <a:spcAft>
                <a:spcPts val="400"/>
              </a:spcAft>
              <a:defRPr sz="1500">
                <a:solidFill>
                  <a:srgbClr val="232A32"/>
                </a:solidFill>
                <a:latin typeface="Malgun Gothic"/>
              </a:defRPr>
            </a:pPr>
            <a:r>
              <a:rPr dirty="0" err="1"/>
              <a:t>IoU를</a:t>
            </a:r>
            <a:r>
              <a:rPr dirty="0"/>
              <a:t> </a:t>
            </a:r>
            <a:r>
              <a:rPr dirty="0" err="1"/>
              <a:t>엄격하게</a:t>
            </a:r>
            <a:r>
              <a:rPr dirty="0"/>
              <a:t> </a:t>
            </a:r>
            <a:r>
              <a:rPr dirty="0" err="1"/>
              <a:t>적용하면</a:t>
            </a:r>
            <a:r>
              <a:rPr dirty="0"/>
              <a:t> bounding box </a:t>
            </a:r>
            <a:r>
              <a:rPr dirty="0" err="1"/>
              <a:t>위치·크기의</a:t>
            </a:r>
            <a:r>
              <a:rPr dirty="0"/>
              <a:t> </a:t>
            </a:r>
            <a:r>
              <a:rPr dirty="0" err="1"/>
              <a:t>정밀도에</a:t>
            </a:r>
            <a:r>
              <a:rPr dirty="0"/>
              <a:t> </a:t>
            </a:r>
            <a:r>
              <a:rPr dirty="0" err="1"/>
              <a:t>개선</a:t>
            </a:r>
            <a:r>
              <a:rPr dirty="0"/>
              <a:t> </a:t>
            </a:r>
            <a:r>
              <a:rPr dirty="0" err="1"/>
              <a:t>여지가</a:t>
            </a:r>
            <a:r>
              <a:rPr dirty="0"/>
              <a:t> </a:t>
            </a:r>
            <a:r>
              <a:rPr dirty="0" err="1"/>
              <a:t>확인됨</a:t>
            </a:r>
            <a:r>
              <a:rPr dirty="0"/>
              <a:t>.</a:t>
            </a:r>
          </a:p>
          <a:p>
            <a:pPr>
              <a:spcAft>
                <a:spcPts val="400"/>
              </a:spcAft>
              <a:defRPr sz="1500">
                <a:solidFill>
                  <a:srgbClr val="232A32"/>
                </a:solidFill>
                <a:latin typeface="Malgun Gothic"/>
              </a:defRPr>
            </a:pPr>
            <a:endParaRPr dirty="0"/>
          </a:p>
          <a:p>
            <a:pPr>
              <a:spcAft>
                <a:spcPts val="400"/>
              </a:spcAft>
              <a:defRPr sz="1500">
                <a:solidFill>
                  <a:srgbClr val="232A32"/>
                </a:solidFill>
                <a:latin typeface="Malgun Gothic"/>
              </a:defRPr>
            </a:pPr>
            <a:r>
              <a:rPr dirty="0"/>
              <a:t>→ </a:t>
            </a:r>
            <a:r>
              <a:rPr dirty="0" err="1"/>
              <a:t>다양한</a:t>
            </a:r>
            <a:r>
              <a:rPr dirty="0"/>
              <a:t> </a:t>
            </a:r>
            <a:r>
              <a:rPr dirty="0" err="1"/>
              <a:t>촬영</a:t>
            </a:r>
            <a:r>
              <a:rPr dirty="0"/>
              <a:t> </a:t>
            </a:r>
            <a:r>
              <a:rPr dirty="0" err="1"/>
              <a:t>각도</a:t>
            </a:r>
            <a:r>
              <a:rPr dirty="0"/>
              <a:t> · </a:t>
            </a:r>
            <a:r>
              <a:rPr dirty="0" err="1"/>
              <a:t>작은</a:t>
            </a:r>
            <a:r>
              <a:rPr dirty="0"/>
              <a:t> </a:t>
            </a:r>
            <a:r>
              <a:rPr dirty="0" err="1"/>
              <a:t>번호판</a:t>
            </a:r>
            <a:r>
              <a:rPr dirty="0"/>
              <a:t> · </a:t>
            </a:r>
            <a:r>
              <a:rPr dirty="0" err="1"/>
              <a:t>복수</a:t>
            </a:r>
            <a:r>
              <a:rPr dirty="0"/>
              <a:t> </a:t>
            </a:r>
            <a:r>
              <a:rPr dirty="0" err="1"/>
              <a:t>객체</a:t>
            </a:r>
            <a:r>
              <a:rPr dirty="0"/>
              <a:t> · </a:t>
            </a:r>
            <a:r>
              <a:rPr dirty="0" err="1"/>
              <a:t>조명</a:t>
            </a:r>
            <a:r>
              <a:rPr dirty="0"/>
              <a:t>/</a:t>
            </a:r>
            <a:r>
              <a:rPr dirty="0" err="1"/>
              <a:t>반사</a:t>
            </a:r>
            <a:r>
              <a:rPr dirty="0"/>
              <a:t> </a:t>
            </a:r>
            <a:r>
              <a:rPr dirty="0" err="1"/>
              <a:t>조건을</a:t>
            </a:r>
            <a:r>
              <a:rPr dirty="0"/>
              <a:t> </a:t>
            </a:r>
            <a:r>
              <a:rPr dirty="0" err="1"/>
              <a:t>개선</a:t>
            </a:r>
            <a:r>
              <a:rPr dirty="0"/>
              <a:t> </a:t>
            </a:r>
            <a:r>
              <a:rPr dirty="0" err="1"/>
              <a:t>포인트로</a:t>
            </a:r>
            <a:r>
              <a:rPr dirty="0"/>
              <a:t> </a:t>
            </a:r>
            <a:r>
              <a:rPr dirty="0" err="1"/>
              <a:t>도출</a:t>
            </a: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640080" y="2262841"/>
            <a:ext cx="73152" cy="2057400"/>
          </a:xfrm>
          <a:prstGeom prst="rect">
            <a:avLst/>
          </a:prstGeom>
          <a:solidFill>
            <a:srgbClr val="2A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080760" y="1810214"/>
            <a:ext cx="5212080" cy="2812530"/>
          </a:xfrm>
          <a:prstGeom prst="roundRect">
            <a:avLst/>
          </a:prstGeom>
          <a:solidFill>
            <a:srgbClr val="F4F7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46304" rIns="164592" bIns="109728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8263A"/>
                </a:solidFill>
                <a:latin typeface="Malgun Gothic"/>
              </a:defRPr>
            </a:pPr>
            <a:r>
              <a:rPr dirty="0" err="1"/>
              <a:t>검증</a:t>
            </a:r>
            <a:r>
              <a:rPr dirty="0"/>
              <a:t> </a:t>
            </a:r>
            <a:r>
              <a:rPr dirty="0" err="1"/>
              <a:t>과정</a:t>
            </a:r>
            <a:endParaRPr dirty="0"/>
          </a:p>
          <a:p>
            <a:pPr>
              <a:spcAft>
                <a:spcPts val="400"/>
              </a:spcAft>
              <a:defRPr sz="1500">
                <a:solidFill>
                  <a:srgbClr val="232A32"/>
                </a:solidFill>
                <a:latin typeface="Malgun Gothic"/>
              </a:defRPr>
            </a:pPr>
            <a:r>
              <a:rPr dirty="0" err="1"/>
              <a:t>독립</a:t>
            </a:r>
            <a:r>
              <a:rPr dirty="0"/>
              <a:t> </a:t>
            </a:r>
            <a:r>
              <a:rPr dirty="0" err="1"/>
              <a:t>테스트셋</a:t>
            </a:r>
            <a:r>
              <a:rPr dirty="0"/>
              <a:t> </a:t>
            </a:r>
            <a:r>
              <a:rPr dirty="0" err="1"/>
              <a:t>구축</a:t>
            </a:r>
            <a:endParaRPr dirty="0"/>
          </a:p>
          <a:p>
            <a:pPr>
              <a:spcAft>
                <a:spcPts val="400"/>
              </a:spcAft>
              <a:defRPr sz="1500">
                <a:solidFill>
                  <a:srgbClr val="232A32"/>
                </a:solidFill>
                <a:latin typeface="Malgun Gothic"/>
              </a:defRPr>
            </a:pPr>
            <a:r>
              <a:rPr dirty="0"/>
              <a:t>→ best.pt </a:t>
            </a:r>
            <a:r>
              <a:rPr dirty="0" err="1"/>
              <a:t>재평가</a:t>
            </a:r>
            <a:endParaRPr dirty="0"/>
          </a:p>
          <a:p>
            <a:pPr>
              <a:spcAft>
                <a:spcPts val="400"/>
              </a:spcAft>
              <a:defRPr sz="1500">
                <a:solidFill>
                  <a:srgbClr val="232A32"/>
                </a:solidFill>
                <a:latin typeface="Malgun Gothic"/>
              </a:defRPr>
            </a:pPr>
            <a:r>
              <a:rPr dirty="0"/>
              <a:t>→ Precision / Recall / </a:t>
            </a:r>
            <a:r>
              <a:rPr dirty="0" err="1"/>
              <a:t>mAP</a:t>
            </a:r>
            <a:r>
              <a:rPr dirty="0"/>
              <a:t> </a:t>
            </a:r>
            <a:r>
              <a:rPr dirty="0" err="1"/>
              <a:t>확인</a:t>
            </a:r>
            <a:endParaRPr dirty="0"/>
          </a:p>
          <a:p>
            <a:pPr>
              <a:spcAft>
                <a:spcPts val="400"/>
              </a:spcAft>
              <a:defRPr sz="1500">
                <a:solidFill>
                  <a:srgbClr val="232A32"/>
                </a:solidFill>
                <a:latin typeface="Malgun Gothic"/>
              </a:defRPr>
            </a:pPr>
            <a:r>
              <a:rPr dirty="0"/>
              <a:t>→ </a:t>
            </a:r>
            <a:r>
              <a:rPr dirty="0" err="1"/>
              <a:t>자동</a:t>
            </a:r>
            <a:r>
              <a:rPr dirty="0"/>
              <a:t> </a:t>
            </a:r>
            <a:r>
              <a:rPr dirty="0" err="1"/>
              <a:t>오류</a:t>
            </a:r>
            <a:r>
              <a:rPr dirty="0"/>
              <a:t> </a:t>
            </a:r>
            <a:r>
              <a:rPr dirty="0" err="1"/>
              <a:t>분석</a:t>
            </a:r>
            <a:endParaRPr dirty="0"/>
          </a:p>
          <a:p>
            <a:pPr>
              <a:spcAft>
                <a:spcPts val="400"/>
              </a:spcAft>
              <a:defRPr sz="1500">
                <a:solidFill>
                  <a:srgbClr val="232A32"/>
                </a:solidFill>
                <a:latin typeface="Malgun Gothic"/>
              </a:defRPr>
            </a:pPr>
            <a:r>
              <a:rPr dirty="0"/>
              <a:t>→ </a:t>
            </a:r>
            <a:r>
              <a:rPr dirty="0" err="1"/>
              <a:t>오류</a:t>
            </a:r>
            <a:r>
              <a:rPr dirty="0"/>
              <a:t> </a:t>
            </a:r>
            <a:r>
              <a:rPr dirty="0" err="1"/>
              <a:t>이미지</a:t>
            </a:r>
            <a:r>
              <a:rPr dirty="0"/>
              <a:t> </a:t>
            </a:r>
            <a:r>
              <a:rPr dirty="0" err="1"/>
              <a:t>시각</a:t>
            </a:r>
            <a:r>
              <a:rPr dirty="0"/>
              <a:t> </a:t>
            </a:r>
            <a:r>
              <a:rPr dirty="0" err="1"/>
              <a:t>검토</a:t>
            </a:r>
            <a:endParaRPr dirty="0"/>
          </a:p>
          <a:p>
            <a:pPr>
              <a:spcAft>
                <a:spcPts val="400"/>
              </a:spcAft>
              <a:defRPr sz="1500">
                <a:solidFill>
                  <a:srgbClr val="232A32"/>
                </a:solidFill>
                <a:latin typeface="Malgun Gothic"/>
              </a:defRPr>
            </a:pPr>
            <a:endParaRPr dirty="0"/>
          </a:p>
          <a:p>
            <a:pPr>
              <a:spcAft>
                <a:spcPts val="400"/>
              </a:spcAft>
              <a:defRPr sz="1500">
                <a:solidFill>
                  <a:srgbClr val="232A32"/>
                </a:solidFill>
                <a:latin typeface="Malgun Gothic"/>
              </a:defRPr>
            </a:pPr>
            <a:r>
              <a:rPr dirty="0" err="1"/>
              <a:t>단순</a:t>
            </a:r>
            <a:r>
              <a:rPr dirty="0"/>
              <a:t> </a:t>
            </a:r>
            <a:r>
              <a:rPr dirty="0" err="1"/>
              <a:t>성능</a:t>
            </a:r>
            <a:r>
              <a:rPr dirty="0"/>
              <a:t> </a:t>
            </a:r>
            <a:r>
              <a:rPr dirty="0" err="1"/>
              <a:t>수치에서</a:t>
            </a:r>
            <a:r>
              <a:rPr dirty="0"/>
              <a:t> </a:t>
            </a:r>
            <a:r>
              <a:rPr dirty="0" err="1"/>
              <a:t>끝나지</a:t>
            </a:r>
            <a:r>
              <a:rPr dirty="0"/>
              <a:t> </a:t>
            </a:r>
            <a:r>
              <a:rPr dirty="0" err="1"/>
              <a:t>않고</a:t>
            </a:r>
            <a:r>
              <a:rPr dirty="0"/>
              <a:t> </a:t>
            </a:r>
            <a:r>
              <a:rPr dirty="0" err="1"/>
              <a:t>오류</a:t>
            </a:r>
            <a:r>
              <a:rPr dirty="0"/>
              <a:t> </a:t>
            </a:r>
            <a:r>
              <a:rPr dirty="0" err="1"/>
              <a:t>원인을</a:t>
            </a:r>
            <a:r>
              <a:rPr dirty="0"/>
              <a:t> </a:t>
            </a:r>
            <a:r>
              <a:rPr dirty="0" err="1"/>
              <a:t>확인하는</a:t>
            </a:r>
            <a:r>
              <a:rPr dirty="0"/>
              <a:t> </a:t>
            </a:r>
            <a:r>
              <a:rPr dirty="0" err="1"/>
              <a:t>검증</a:t>
            </a:r>
            <a:r>
              <a:rPr dirty="0"/>
              <a:t> </a:t>
            </a:r>
            <a:r>
              <a:rPr dirty="0" err="1"/>
              <a:t>흐름</a:t>
            </a:r>
            <a:r>
              <a:rPr dirty="0"/>
              <a:t> </a:t>
            </a:r>
            <a:r>
              <a:rPr dirty="0" err="1"/>
              <a:t>구축</a:t>
            </a:r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6080760" y="2262841"/>
            <a:ext cx="73152" cy="2057400"/>
          </a:xfrm>
          <a:prstGeom prst="rect">
            <a:avLst/>
          </a:prstGeom>
          <a:solidFill>
            <a:srgbClr val="317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80" y="4896611"/>
            <a:ext cx="10652760" cy="1508760"/>
          </a:xfrm>
          <a:prstGeom prst="roundRect">
            <a:avLst/>
          </a:prstGeom>
          <a:solidFill>
            <a:srgbClr val="18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Malgun Gothic"/>
              </a:defRPr>
            </a:pPr>
            <a:r>
              <a:rPr dirty="0" err="1"/>
              <a:t>나의</a:t>
            </a:r>
            <a:r>
              <a:rPr dirty="0"/>
              <a:t> </a:t>
            </a:r>
            <a:r>
              <a:rPr dirty="0" err="1"/>
              <a:t>강점</a:t>
            </a:r>
            <a:endParaRPr dirty="0"/>
          </a:p>
          <a:p>
            <a:pPr algn="ctr">
              <a:defRPr sz="2000" b="1">
                <a:solidFill>
                  <a:srgbClr val="FFFFFF"/>
                </a:solidFill>
                <a:latin typeface="Malgun Gothic"/>
              </a:defRPr>
            </a:pPr>
            <a:r>
              <a:rPr dirty="0" err="1"/>
              <a:t>전체</a:t>
            </a:r>
            <a:r>
              <a:rPr dirty="0"/>
              <a:t> </a:t>
            </a:r>
            <a:r>
              <a:rPr dirty="0" err="1"/>
              <a:t>시스템</a:t>
            </a:r>
            <a:r>
              <a:rPr dirty="0"/>
              <a:t> </a:t>
            </a:r>
            <a:r>
              <a:rPr dirty="0" err="1"/>
              <a:t>흐름을</a:t>
            </a:r>
            <a:r>
              <a:rPr dirty="0"/>
              <a:t> </a:t>
            </a:r>
            <a:r>
              <a:rPr dirty="0" err="1"/>
              <a:t>연결하고</a:t>
            </a:r>
            <a:r>
              <a:rPr dirty="0"/>
              <a:t>, 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기반으로</a:t>
            </a:r>
            <a:r>
              <a:rPr dirty="0"/>
              <a:t> </a:t>
            </a:r>
            <a:r>
              <a:rPr dirty="0" err="1"/>
              <a:t>결과를</a:t>
            </a:r>
            <a:r>
              <a:rPr dirty="0"/>
              <a:t> </a:t>
            </a:r>
            <a:r>
              <a:rPr dirty="0" err="1"/>
              <a:t>검증하며</a:t>
            </a:r>
            <a:r>
              <a:rPr dirty="0"/>
              <a:t> </a:t>
            </a:r>
            <a:r>
              <a:rPr dirty="0" err="1"/>
              <a:t>개선</a:t>
            </a:r>
            <a:r>
              <a:rPr dirty="0"/>
              <a:t> </a:t>
            </a:r>
            <a:r>
              <a:rPr dirty="0" err="1"/>
              <a:t>지점을</a:t>
            </a:r>
            <a:r>
              <a:rPr dirty="0"/>
              <a:t> </a:t>
            </a:r>
            <a:r>
              <a:rPr dirty="0" err="1"/>
              <a:t>찾아가는</a:t>
            </a:r>
            <a:r>
              <a:rPr dirty="0"/>
              <a:t> </a:t>
            </a:r>
            <a:r>
              <a:rPr dirty="0" err="1"/>
              <a:t>역할</a:t>
            </a:r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D7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881360" y="651052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684"/>
                </a:solidFill>
                <a:latin typeface="Malgun Gothic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507</Words>
  <Application>Microsoft Office PowerPoint</Application>
  <PresentationFormat>와이드스크린</PresentationFormat>
  <Paragraphs>96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양 진희</cp:lastModifiedBy>
  <cp:revision>2</cp:revision>
  <dcterms:created xsi:type="dcterms:W3CDTF">2013-01-27T09:14:16Z</dcterms:created>
  <dcterms:modified xsi:type="dcterms:W3CDTF">2026-09-30T03:36:38Z</dcterms:modified>
  <cp:category/>
</cp:coreProperties>
</file>